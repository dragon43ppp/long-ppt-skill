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84280" cy="987552"/>
          </a:xfrm>
          <a:prstGeom prst="roundRect">
            <a:avLst>
              <a:gd name="adj" fmla="val 4000"/>
            </a:avLst>
          </a:prstGeom>
          <a:solidFill>
            <a:srgbClr val="F5F9FF"/>
          </a:solidFill>
          <a:ln w="12700">
            <a:solidFill>
              <a:srgbClr val="407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1691640" cy="987552"/>
          </a:xfrm>
          <a:prstGeom prst="roundRect">
            <a:avLst>
              <a:gd name="adj" fmla="val 4000"/>
            </a:avLst>
          </a:prstGeom>
          <a:solidFill>
            <a:srgbClr val="F5F9FF"/>
          </a:solidFill>
          <a:ln w="12700">
            <a:solidFill>
              <a:srgbClr val="407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700" b="1">
                <a:solidFill>
                  <a:srgbClr val="2E56A2"/>
                </a:solidFill>
                <a:latin typeface="Microsoft YaHei"/>
              </a:rPr>
              <a:t>业务层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502920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407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2E56A2"/>
                </a:solidFill>
                <a:latin typeface="Microsoft YaHei"/>
              </a:rPr>
              <a:t>客户门户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502920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407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2E56A2"/>
                </a:solidFill>
                <a:latin typeface="Microsoft YaHei"/>
              </a:rPr>
              <a:t>合作伙伴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502920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407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2E56A2"/>
                </a:solidFill>
                <a:latin typeface="Microsoft YaHei"/>
              </a:rPr>
              <a:t>移动端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20240"/>
            <a:ext cx="11384280" cy="987552"/>
          </a:xfrm>
          <a:prstGeom prst="roundRect">
            <a:avLst>
              <a:gd name="adj" fmla="val 4000"/>
            </a:avLst>
          </a:prstGeom>
          <a:solidFill>
            <a:srgbClr val="F7FCF7"/>
          </a:solidFill>
          <a:ln w="12700">
            <a:solidFill>
              <a:srgbClr val="4E9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920240"/>
            <a:ext cx="1691640" cy="987552"/>
          </a:xfrm>
          <a:prstGeom prst="roundRect">
            <a:avLst>
              <a:gd name="adj" fmla="val 4000"/>
            </a:avLst>
          </a:prstGeom>
          <a:solidFill>
            <a:srgbClr val="F7FCF7"/>
          </a:solidFill>
          <a:ln w="12700">
            <a:solidFill>
              <a:srgbClr val="4E9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700" b="1">
                <a:solidFill>
                  <a:srgbClr val="428A54"/>
                </a:solidFill>
                <a:latin typeface="Microsoft YaHei"/>
              </a:rPr>
              <a:t>应用层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130552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4E9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428A54"/>
                </a:solidFill>
                <a:latin typeface="Microsoft YaHei"/>
              </a:rPr>
              <a:t>订单管理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130552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4E9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428A54"/>
                </a:solidFill>
                <a:latin typeface="Microsoft YaHei"/>
              </a:rPr>
              <a:t>客户管理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2130552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4E9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428A54"/>
                </a:solidFill>
                <a:latin typeface="Microsoft YaHei"/>
              </a:rPr>
              <a:t>库存管理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2130552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4E9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428A54"/>
                </a:solidFill>
                <a:latin typeface="Microsoft YaHei"/>
              </a:rPr>
              <a:t>财务系统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547872"/>
            <a:ext cx="11384280" cy="987552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 w="12700">
            <a:solidFill>
              <a:srgbClr val="EF9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3547872"/>
            <a:ext cx="1691640" cy="987552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 w="12700">
            <a:solidFill>
              <a:srgbClr val="EF9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700" b="1">
                <a:solidFill>
                  <a:srgbClr val="DC8C2C"/>
                </a:solidFill>
                <a:latin typeface="Microsoft YaHei"/>
              </a:rPr>
              <a:t>服务层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3758184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EF9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DC8C2C"/>
                </a:solidFill>
                <a:latin typeface="Microsoft YaHei"/>
              </a:rPr>
              <a:t>API网关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3758184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EF9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DC8C2C"/>
                </a:solidFill>
                <a:latin typeface="Microsoft YaHei"/>
              </a:rPr>
              <a:t>身份认证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3758184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EF9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DC8C2C"/>
                </a:solidFill>
                <a:latin typeface="Microsoft YaHei"/>
              </a:rPr>
              <a:t>消息中间件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3758184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EF9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DC8C2C"/>
                </a:solidFill>
                <a:latin typeface="Microsoft YaHei"/>
              </a:rPr>
              <a:t>工作流引擎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175504"/>
            <a:ext cx="11384280" cy="987552"/>
          </a:xfrm>
          <a:prstGeom prst="roundRect">
            <a:avLst>
              <a:gd name="adj" fmla="val 4000"/>
            </a:avLst>
          </a:prstGeom>
          <a:solidFill>
            <a:srgbClr val="F9F7FF"/>
          </a:solidFill>
          <a:ln w="12700">
            <a:solidFill>
              <a:srgbClr val="7C6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5175504"/>
            <a:ext cx="1691640" cy="987552"/>
          </a:xfrm>
          <a:prstGeom prst="roundRect">
            <a:avLst>
              <a:gd name="adj" fmla="val 4000"/>
            </a:avLst>
          </a:prstGeom>
          <a:solidFill>
            <a:srgbClr val="F9F7FF"/>
          </a:solidFill>
          <a:ln w="12700">
            <a:solidFill>
              <a:srgbClr val="7C6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700" b="1">
                <a:solidFill>
                  <a:srgbClr val="6E56BB"/>
                </a:solidFill>
                <a:latin typeface="Microsoft YaHei"/>
              </a:rPr>
              <a:t>数据层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5385816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7C6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6E56BB"/>
                </a:solidFill>
                <a:latin typeface="Microsoft YaHei"/>
              </a:rPr>
              <a:t>关系数据库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5385816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7C6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6E56BB"/>
                </a:solidFill>
                <a:latin typeface="Microsoft YaHei"/>
              </a:rPr>
              <a:t>缓存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5385816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7C6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6E56BB"/>
                </a:solidFill>
                <a:latin typeface="Microsoft YaHei"/>
              </a:rPr>
              <a:t>数据仓库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5385816"/>
            <a:ext cx="195681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7C6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6E56BB"/>
                </a:solidFill>
                <a:latin typeface="Microsoft YaHei"/>
              </a:rPr>
              <a:t>对象存储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87568.0" y="1280160"/>
            <a:ext cx="0.0" cy="640080"/>
          </a:xfrm>
          <a:prstGeom prst="line">
            <a:avLst/>
          </a:prstGeom>
          <a:ln w="15240">
            <a:solidFill>
              <a:srgbClr val="407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30568.0" y="2907792"/>
            <a:ext cx="0.0" cy="640080"/>
          </a:xfrm>
          <a:prstGeom prst="line">
            <a:avLst/>
          </a:prstGeom>
          <a:ln w="15240">
            <a:solidFill>
              <a:srgbClr val="4E9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30568.0" y="4535424"/>
            <a:ext cx="0.0" cy="640080"/>
          </a:xfrm>
          <a:prstGeom prst="line">
            <a:avLst/>
          </a:prstGeom>
          <a:ln w="15240">
            <a:solidFill>
              <a:srgbClr val="EF9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