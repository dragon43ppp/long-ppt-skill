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1564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-73152"/>
            <a:ext cx="106070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2500" b="1">
                <a:solidFill>
                  <a:srgbClr val="06368F"/>
                </a:solidFill>
                <a:latin typeface="Microsoft YaHei"/>
              </a:rPr>
              <a:t>为什么可观测性成为电力系统治理重要支撑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64008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400" b="0">
                <a:solidFill>
                  <a:srgbClr val="2A374B"/>
                </a:solidFill>
                <a:latin typeface="Microsoft YaHei"/>
              </a:rPr>
              <a:t>从电网到业务系统，统一看见、快速定位、闭环治理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68096"/>
            <a:ext cx="13825728" cy="0"/>
          </a:xfrm>
          <a:prstGeom prst="line">
            <a:avLst/>
          </a:prstGeom>
          <a:ln w="12700">
            <a:solidFill>
              <a:srgbClr val="91B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38912" y="722376"/>
            <a:ext cx="118872" cy="118872"/>
          </a:xfrm>
          <a:prstGeom prst="diamond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10241280" y="-320040"/>
            <a:ext cx="4297680" cy="640080"/>
          </a:xfrm>
          <a:prstGeom prst="arc">
            <a:avLst/>
          </a:prstGeom>
          <a:ln w="38100">
            <a:solidFill>
              <a:srgbClr val="96C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00584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1243584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9" name="Oval 8"/>
          <p:cNvSpPr/>
          <p:nvPr/>
        </p:nvSpPr>
        <p:spPr>
          <a:xfrm>
            <a:off x="1517904" y="1243584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18872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电网拓扑复杂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57276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发电—输电—变电—配电—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用电全链路长、层级多、依赖强。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46888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" y="2706624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◇</a:t>
            </a:r>
          </a:p>
        </p:txBody>
      </p:sp>
      <p:sp>
        <p:nvSpPr>
          <p:cNvPr id="14" name="Oval 13"/>
          <p:cNvSpPr/>
          <p:nvPr/>
        </p:nvSpPr>
        <p:spPr>
          <a:xfrm>
            <a:off x="1517904" y="2706624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65176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业务系统联动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303580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生产运行、调度控制、营销服务、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交易结算等系统深度协同。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93192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" y="4169663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↯</a:t>
            </a:r>
          </a:p>
        </p:txBody>
      </p:sp>
      <p:sp>
        <p:nvSpPr>
          <p:cNvPr id="19" name="Oval 18"/>
          <p:cNvSpPr/>
          <p:nvPr/>
        </p:nvSpPr>
        <p:spPr>
          <a:xfrm>
            <a:off x="1517904" y="4169663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11480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异常传播快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49884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故障或性能异常可跨设备、跨系统、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跨区域快速扩散。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37392" y="100584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74552" y="1243584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▦</a:t>
            </a:r>
          </a:p>
        </p:txBody>
      </p:sp>
      <p:sp>
        <p:nvSpPr>
          <p:cNvPr id="24" name="Oval 23"/>
          <p:cNvSpPr/>
          <p:nvPr/>
        </p:nvSpPr>
        <p:spPr>
          <a:xfrm>
            <a:off x="12216384" y="1243584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08992" y="118872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数据孤岛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16384" y="157276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设备数据、系统数据、业务数据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分散在多源多域，难以打通。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7392" y="246888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74552" y="2706624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◎</a:t>
            </a:r>
          </a:p>
        </p:txBody>
      </p:sp>
      <p:sp>
        <p:nvSpPr>
          <p:cNvPr id="29" name="Oval 28"/>
          <p:cNvSpPr/>
          <p:nvPr/>
        </p:nvSpPr>
        <p:spPr>
          <a:xfrm>
            <a:off x="12216384" y="2706624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8992" y="265176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定位成本高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16384" y="303580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缺少全链路上下文与关联分析，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问题定位慢、排查靠经验。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7392" y="3931920"/>
            <a:ext cx="318211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74552" y="4169663"/>
            <a:ext cx="685800" cy="685800"/>
          </a:xfrm>
          <a:prstGeom prst="ellipse">
            <a:avLst/>
          </a:prstGeom>
          <a:solidFill>
            <a:srgbClr val="1666E0"/>
          </a:solidFill>
          <a:ln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34" name="Oval 33"/>
          <p:cNvSpPr/>
          <p:nvPr/>
        </p:nvSpPr>
        <p:spPr>
          <a:xfrm>
            <a:off x="12216384" y="4169663"/>
            <a:ext cx="256032" cy="256032"/>
          </a:xfrm>
          <a:prstGeom prst="ellipse">
            <a:avLst/>
          </a:prstGeom>
          <a:solidFill>
            <a:srgbClr val="06368F"/>
          </a:solidFill>
          <a:ln>
            <a:solidFill>
              <a:srgbClr val="063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08992" y="4114800"/>
            <a:ext cx="1600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250" b="1">
                <a:solidFill>
                  <a:srgbClr val="06368F"/>
                </a:solidFill>
                <a:latin typeface="Microsoft YaHei"/>
              </a:rPr>
              <a:t>稳定性要求高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6384" y="4498848"/>
            <a:ext cx="1920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40" b="0">
                <a:solidFill>
                  <a:srgbClr val="2A374B"/>
                </a:solidFill>
                <a:latin typeface="Microsoft YaHei"/>
              </a:rPr>
              <a:t>电力关系民生与经济命脉，</a:t>
            </a:r>
          </a:p>
          <a:p>
            <a:r>
              <a:rPr sz="840" b="0">
                <a:solidFill>
                  <a:srgbClr val="2A374B"/>
                </a:solidFill>
                <a:latin typeface="Microsoft YaHei"/>
              </a:rPr>
              <a:t>指标波动容忍度极低。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75887" y="987552"/>
            <a:ext cx="7388352" cy="4315968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2907792"/>
            <a:ext cx="1737360" cy="658368"/>
          </a:xfrm>
          <a:prstGeom prst="ellipse">
            <a:avLst/>
          </a:prstGeom>
          <a:solidFill>
            <a:srgbClr val="DBEDFF"/>
          </a:solidFill>
          <a:ln w="16510">
            <a:solidFill>
              <a:srgbClr val="6FA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035808"/>
            <a:ext cx="1225296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120" b="1">
                <a:solidFill>
                  <a:srgbClr val="06368F"/>
                </a:solidFill>
                <a:latin typeface="Microsoft YaHei"/>
              </a:rPr>
              <a:t>调度控制中心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3136" y="2615184"/>
            <a:ext cx="713232" cy="384048"/>
          </a:xfrm>
          <a:prstGeom prst="rect">
            <a:avLst/>
          </a:prstGeom>
          <a:solidFill>
            <a:srgbClr val="105EBA"/>
          </a:solidFill>
          <a:ln w="10160">
            <a:solidFill>
              <a:srgbClr val="238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▥▥</a:t>
            </a:r>
          </a:p>
        </p:txBody>
      </p:sp>
      <p:sp>
        <p:nvSpPr>
          <p:cNvPr id="41" name="Oval 40"/>
          <p:cNvSpPr/>
          <p:nvPr/>
        </p:nvSpPr>
        <p:spPr>
          <a:xfrm>
            <a:off x="4443983" y="1810512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0" y="1417320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9392" y="2011680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发电厂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56048" y="1847088"/>
            <a:ext cx="2359152" cy="1280160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742431" y="1810512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70448" y="1417320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2011680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输电线路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54496" y="1847088"/>
            <a:ext cx="1060704" cy="1280160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040879" y="1810512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68896" y="1417320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2011680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变电站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7315200" y="1847088"/>
            <a:ext cx="237744" cy="1280160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485632" y="1810512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13648" y="1417320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011680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配电网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7315200" y="1847088"/>
            <a:ext cx="1682496" cy="1280160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747504" y="1810512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75520" y="1417320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2912" y="2011680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用电客户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7315200" y="1847088"/>
            <a:ext cx="2944368" cy="1280160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443983" y="3529584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72000" y="3136391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79392" y="3730752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生产管理系统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4956048" y="3127248"/>
            <a:ext cx="2359152" cy="438912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747504" y="3529584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875520" y="3136391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☎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2912" y="3730752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客户服务系统</a:t>
            </a:r>
          </a:p>
        </p:txBody>
      </p:sp>
      <p:cxnSp>
        <p:nvCxnSpPr>
          <p:cNvPr id="68" name="Connector 67"/>
          <p:cNvCxnSpPr/>
          <p:nvPr/>
        </p:nvCxnSpPr>
        <p:spPr>
          <a:xfrm flipH="1" flipV="1">
            <a:off x="7315200" y="3127248"/>
            <a:ext cx="2944368" cy="438912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443983" y="4882896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572000" y="4489704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79392" y="5084064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充电运营平台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4956048" y="3127248"/>
            <a:ext cx="2359152" cy="1792224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053328" y="4882896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81344" y="4489704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▣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88736" y="5084064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智能电表/采集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6565392" y="3127248"/>
            <a:ext cx="749808" cy="1792224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589519" y="4882896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717536" y="4489704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4927" y="5084064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交易结算系统</a:t>
            </a:r>
          </a:p>
        </p:txBody>
      </p:sp>
      <p:cxnSp>
        <p:nvCxnSpPr>
          <p:cNvPr id="80" name="Connector 79"/>
          <p:cNvCxnSpPr/>
          <p:nvPr/>
        </p:nvCxnSpPr>
        <p:spPr>
          <a:xfrm flipH="1" flipV="1">
            <a:off x="7315200" y="3127248"/>
            <a:ext cx="786383" cy="1792224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9747504" y="4882896"/>
            <a:ext cx="1005840" cy="228600"/>
          </a:xfrm>
          <a:prstGeom prst="ellipse">
            <a:avLst/>
          </a:prstGeom>
          <a:solidFill>
            <a:srgbClr val="E0F1FF"/>
          </a:solidFill>
          <a:ln>
            <a:solidFill>
              <a:srgbClr val="D2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875520" y="4489704"/>
            <a:ext cx="74980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5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912" y="5084064"/>
            <a:ext cx="135331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40" b="1">
                <a:solidFill>
                  <a:srgbClr val="2A374B"/>
                </a:solidFill>
                <a:latin typeface="Microsoft YaHei"/>
              </a:rPr>
              <a:t>营销管理系统</a:t>
            </a:r>
          </a:p>
        </p:txBody>
      </p:sp>
      <p:cxnSp>
        <p:nvCxnSpPr>
          <p:cNvPr id="84" name="Connector 83"/>
          <p:cNvCxnSpPr/>
          <p:nvPr/>
        </p:nvCxnSpPr>
        <p:spPr>
          <a:xfrm flipH="1" flipV="1">
            <a:off x="7315200" y="3127248"/>
            <a:ext cx="2944368" cy="1792224"/>
          </a:xfrm>
          <a:prstGeom prst="line">
            <a:avLst/>
          </a:prstGeom>
          <a:ln w="12700">
            <a:solidFill>
              <a:srgbClr val="80C3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709160" y="1719072"/>
            <a:ext cx="5376672" cy="0"/>
          </a:xfrm>
          <a:prstGeom prst="line">
            <a:avLst/>
          </a:prstGeom>
          <a:ln w="13970">
            <a:solidFill>
              <a:srgbClr val="166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5230368" y="1673351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473952" y="1673351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01000" y="1673351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81160" y="1673351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4709160" y="3291840"/>
            <a:ext cx="5303520" cy="0"/>
          </a:xfrm>
          <a:prstGeom prst="line">
            <a:avLst/>
          </a:prstGeom>
          <a:ln w="13970">
            <a:solidFill>
              <a:srgbClr val="166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5257800" y="324612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315200" y="324612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015984" y="324612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92608" y="5623560"/>
            <a:ext cx="694944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9B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92608" y="5623560"/>
            <a:ext cx="960120" cy="1755648"/>
          </a:xfrm>
          <a:prstGeom prst="roundRect">
            <a:avLst/>
          </a:prstGeom>
          <a:solidFill>
            <a:srgbClr val="1666E0"/>
          </a:solidFill>
          <a:ln w="101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可观测性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统一信号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44752" y="5907024"/>
            <a:ext cx="1143000" cy="210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06368F"/>
                </a:solidFill>
                <a:latin typeface="Microsoft YaHei"/>
              </a:rPr>
              <a:t>指标（指标）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55648" y="6345936"/>
            <a:ext cx="47548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2000" b="1">
                <a:solidFill>
                  <a:srgbClr val="1666E0"/>
                </a:solidFill>
                <a:latin typeface="Microsoft YaHei"/>
              </a:rPr>
              <a:t>▥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17904" y="6839712"/>
            <a:ext cx="996696" cy="3931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性能、负载、容量、</a:t>
            </a:r>
          </a:p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电压电流、设备状态等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51760" y="5907024"/>
            <a:ext cx="1143000" cy="210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06368F"/>
                </a:solidFill>
                <a:latin typeface="Microsoft YaHei"/>
              </a:rPr>
              <a:t>日志（日志）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62656" y="6345936"/>
            <a:ext cx="47548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2000" b="1">
                <a:solidFill>
                  <a:srgbClr val="1666E0"/>
                </a:solidFill>
                <a:latin typeface="Microsoft YaHei"/>
              </a:rPr>
              <a:t>▤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24912" y="6839712"/>
            <a:ext cx="996696" cy="3931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系统日志、设备告警、</a:t>
            </a:r>
          </a:p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应用日志、操作日志等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22191" y="5907024"/>
            <a:ext cx="1143000" cy="210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06368F"/>
                </a:solidFill>
                <a:latin typeface="Microsoft YaHei"/>
              </a:rPr>
              <a:t>链路（Trace）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33087" y="6345936"/>
            <a:ext cx="47548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2000" b="1">
                <a:solidFill>
                  <a:srgbClr val="1666E0"/>
                </a:solidFill>
                <a:latin typeface="Microsoft YaHei"/>
              </a:rPr>
              <a:t>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95344" y="6839712"/>
            <a:ext cx="996696" cy="3931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请求链路、调用关系、</a:t>
            </a:r>
          </a:p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时序链路、依赖关系等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10912" y="5907024"/>
            <a:ext cx="1143000" cy="210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06368F"/>
                </a:solidFill>
                <a:latin typeface="Microsoft YaHei"/>
              </a:rPr>
              <a:t>事件（事件）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21808" y="6345936"/>
            <a:ext cx="47548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2000" b="1">
                <a:solidFill>
                  <a:srgbClr val="1666E0"/>
                </a:solidFill>
                <a:latin typeface="Microsoft YaHei"/>
              </a:rPr>
              <a:t>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84064" y="6839712"/>
            <a:ext cx="996696" cy="3931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故障事件、变更事件、</a:t>
            </a:r>
          </a:p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安全事件、业务事件等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0" y="5907024"/>
            <a:ext cx="1143000" cy="210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06368F"/>
                </a:solidFill>
                <a:latin typeface="Microsoft YaHei"/>
              </a:rPr>
              <a:t>剖析（剖析）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45936" y="6345936"/>
            <a:ext cx="47548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2000" b="1">
                <a:solidFill>
                  <a:srgbClr val="1666E0"/>
                </a:solidFill>
                <a:latin typeface="Microsoft YaHei"/>
              </a:rPr>
              <a:t>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08192" y="6839712"/>
            <a:ext cx="996696" cy="3931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性能剖析、慢调用、</a:t>
            </a:r>
          </a:p>
          <a:p>
            <a:pPr algn="ctr"/>
            <a:r>
              <a:rPr sz="620" b="0">
                <a:solidFill>
                  <a:srgbClr val="2A374B"/>
                </a:solidFill>
                <a:latin typeface="Microsoft YaHei"/>
              </a:rPr>
              <a:t>瓶颈分析、根因分析等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2542032" y="5779008"/>
            <a:ext cx="0" cy="1408176"/>
          </a:xfrm>
          <a:prstGeom prst="line">
            <a:avLst/>
          </a:prstGeom>
          <a:ln w="8890">
            <a:solidFill>
              <a:srgbClr val="D2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730752" y="5779008"/>
            <a:ext cx="0" cy="1408176"/>
          </a:xfrm>
          <a:prstGeom prst="line">
            <a:avLst/>
          </a:prstGeom>
          <a:ln w="8890">
            <a:solidFill>
              <a:srgbClr val="D2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919472" y="5779008"/>
            <a:ext cx="0" cy="1408176"/>
          </a:xfrm>
          <a:prstGeom prst="line">
            <a:avLst/>
          </a:prstGeom>
          <a:ln w="8890">
            <a:solidFill>
              <a:srgbClr val="D2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925312" y="5779008"/>
            <a:ext cx="0" cy="1408176"/>
          </a:xfrm>
          <a:prstGeom prst="line">
            <a:avLst/>
          </a:prstGeom>
          <a:ln w="8890">
            <a:solidFill>
              <a:srgbClr val="D2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ight Arrow 114"/>
          <p:cNvSpPr/>
          <p:nvPr/>
        </p:nvSpPr>
        <p:spPr>
          <a:xfrm>
            <a:off x="7260336" y="6199632"/>
            <a:ext cx="329184" cy="512064"/>
          </a:xfrm>
          <a:prstGeom prst="rightArrow">
            <a:avLst/>
          </a:prstGeom>
          <a:solidFill>
            <a:srgbClr val="7EB9F6"/>
          </a:solidFill>
          <a:ln>
            <a:solidFill>
              <a:srgbClr val="7EB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498079" y="5650992"/>
            <a:ext cx="3749039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7498079" y="5650992"/>
            <a:ext cx="3749039" cy="384048"/>
          </a:xfrm>
          <a:prstGeom prst="roundRect">
            <a:avLst/>
          </a:prstGeom>
          <a:solidFill>
            <a:srgbClr val="1666E0"/>
          </a:solidFill>
          <a:ln w="10160">
            <a:solidFill>
              <a:srgbClr val="166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带来的价值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73568" y="6327648"/>
            <a:ext cx="502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●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27264" y="6693408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统一看见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27264" y="6931152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全局可视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68512" y="6327648"/>
            <a:ext cx="502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◎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2208" y="6693408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快速定位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22208" y="6931152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精准止损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63456" y="6327648"/>
            <a:ext cx="502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▱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17152" y="6693408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风险预警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17152" y="6931152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主动防控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58400" y="6327648"/>
            <a:ext cx="502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↻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12096" y="6693408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闭环治理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912096" y="6931152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持续优化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753344" y="6327648"/>
            <a:ext cx="502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1666E0"/>
                </a:solidFill>
                <a:latin typeface="Microsoft YaHei"/>
              </a:rP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07040" y="6693408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合规可追溯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607040" y="6931152"/>
            <a:ext cx="804672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680" b="0">
                <a:solidFill>
                  <a:srgbClr val="2A374B"/>
                </a:solidFill>
                <a:latin typeface="Microsoft YaHei"/>
              </a:rPr>
              <a:t>责任可界定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11301984" y="6181344"/>
            <a:ext cx="329184" cy="530352"/>
          </a:xfrm>
          <a:prstGeom prst="rightArrow">
            <a:avLst/>
          </a:prstGeom>
          <a:solidFill>
            <a:srgbClr val="7EB9F6"/>
          </a:solidFill>
          <a:ln>
            <a:solidFill>
              <a:srgbClr val="7EB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entagon 133"/>
          <p:cNvSpPr/>
          <p:nvPr/>
        </p:nvSpPr>
        <p:spPr>
          <a:xfrm>
            <a:off x="11567160" y="5623560"/>
            <a:ext cx="2788920" cy="1755648"/>
          </a:xfrm>
          <a:prstGeom prst="homePlate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>
            <a:normAutofit/>
          </a:bodyPr>
          <a:lstStyle/>
          <a:p>
            <a:pPr algn="ctr"/>
            <a:r>
              <a:rPr sz="1400" b="1">
                <a:solidFill>
                  <a:srgbClr val="06368F"/>
                </a:solidFill>
                <a:latin typeface="Microsoft YaHei"/>
              </a:rPr>
              <a:t>以统一可观测性</a:t>
            </a:r>
          </a:p>
          <a:p>
            <a:pPr algn="ctr"/>
            <a:r>
              <a:rPr sz="1400" b="1">
                <a:solidFill>
                  <a:srgbClr val="06368F"/>
                </a:solidFill>
                <a:latin typeface="Microsoft YaHei"/>
              </a:rPr>
              <a:t>打通设备、系统与业务链路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33504" y="6903720"/>
            <a:ext cx="18288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80" b="1">
                <a:solidFill>
                  <a:srgbClr val="1666E0"/>
                </a:solidFill>
                <a:latin typeface="Microsoft YaHei"/>
              </a:rPr>
              <a:t>看得清   定得准   管得住   治得好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502920" y="7790688"/>
            <a:ext cx="13624560" cy="0"/>
          </a:xfrm>
          <a:prstGeom prst="line">
            <a:avLst/>
          </a:prstGeom>
          <a:ln w="10160">
            <a:solidFill>
              <a:srgbClr val="D3E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783080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◇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84248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统一采集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3090672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3227832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🔗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29000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统一关联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535424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672584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▱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73752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统一存储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80176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6117336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▣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18504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统一分析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7424927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7562088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▭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63256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统一可视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8869680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006840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08008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统一告警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314432" y="7616952"/>
            <a:ext cx="0" cy="182879"/>
          </a:xfrm>
          <a:prstGeom prst="line">
            <a:avLst/>
          </a:prstGeom>
          <a:ln w="10160">
            <a:solidFill>
              <a:srgbClr val="A0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451592" y="7607808"/>
            <a:ext cx="201168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00" b="1">
                <a:solidFill>
                  <a:srgbClr val="1666E0"/>
                </a:solidFill>
                <a:latin typeface="Microsoft YaHei"/>
              </a:rPr>
              <a:t>✣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652760" y="7598664"/>
            <a:ext cx="749808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880" b="1">
                <a:solidFill>
                  <a:srgbClr val="06368F"/>
                </a:solidFill>
                <a:latin typeface="Microsoft YaHei"/>
              </a:rPr>
              <a:t>统一集成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